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Poppins"/>
      <p:regular r:id="rId21"/>
      <p:bold r:id="rId22"/>
      <p:italic r:id="rId23"/>
      <p:boldItalic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92C7F9-1EA7-4733-BEFB-94C64F1EB670}">
  <a:tblStyle styleId="{BC92C7F9-1EA7-4733-BEFB-94C64F1EB6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SLIDES_API135725854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SLIDES_API135725854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Resumo em uma frase: "alocar alunos de duas escolas em quartos de dois (um de cada), respeitando ao máximo as preferências, com um AG reforçado por busca local". Antecipe a estrutura: problema → modelagem → operadores → ciclo → resultados.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SLIDES_API1357258546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SLIDES_API1357258546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Contextualize com a olimpíada do enunciado. "Satisfação" = posição que cada um deu ao par. Como o nº de soluções explode fatorialmente, usamos uma busca informada (heurística), não força bruta — exceto para validar instâncias pequenas.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SLIDES_API1357258546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SLIDES_API1357258546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Defina memético sem jargão: "o AG procura amplo; a busca local aprofunda". Use este slide como mapa: os próximos abrem cada etapa do ciclo.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SLIDES_API1357258546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SLIDES_API1357258546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programa recebe o arquivo por argumento (args), como exige o enunciado. A permutação evita soluções inválidas (dois A no mesmo B / B sem par) — diferente de um vetor livre, que exigiria reparo. Internamente os ids são base 0 (Python indexa do 0) e exibidos em base 1; é só índice, não muda o modelo.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SLIDES_API1357258546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SLIDES_API1357258546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É a peça "fundamental" do AG (enunciado). Otimização: matriz de custo pré-computada custo[i][j] = (rankA+1)+(rankB+1) calculada 1x na leitura → avaliação O(N) e delta da busca local O(1). Como todos os operadores preservam a permutação, não há termo de penalidade — a aptidão é só a soma dos custos.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SLIDES_API1357258546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SLIDES_API1357258546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AG evolui um conjunto, não uma única solução. Torneio dá vantagem aos bons sem matar a diversidade cedo; elitismo é a rede de segurança. É a estratégia do exemplo de aula (N-Rainhas).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SLIDES_API1357258546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SLIDES_API1357258546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Cruzamento é o principal mecanismo de exploração (combina dois pais). OX herda a ordem relativa do segundo pai sem repetir ninguém — melhor que o "corte simples", que quebrava a permutação e exigia reparo destrutivo.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SLIDES_API1357258546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SLIDES_API1357258546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Metáfora: cruzamento/mutação dão um "rascunho"; a busca local "lapida" esse rascunho descendo a ladeira do custo. O delta torna isso barato — por isso é viável aplicar a todos os filhos.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SLIDES_API1357258546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SLIDES_API1357258546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critérios evitam desperdício: se já achamos o ótimo ou a busca estagnou, encerramos. A cada geração registramos melhor/média/pior para acompanhar a evolução.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SLIDES_API1357258546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SLIDES_API1357258546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definição dos parâmetros é parte importante da nota. Foram escolhidos para equilibrar exploração (população/crossover/mutação) e intensificação (torneio/elitismo/busca local), e validados empiricamente nos arquivos de teste.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SLIDES_API1357258546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SLIDES_API1357258546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Os dois modos atendem exatamente ao enunciado. Mostramos a solução codificada (a permutação) e decodificada (quartos com rankings e custo), além de custo total, custo médio, ótimo teórico e verificação de validade. Demo ao vivo, se der.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SLIDES_API1357258546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SLIDES_API1357258546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Atingimos o ótimo em N=4 e a melhor solução conhecida em N=10, com convergência rápida. O slide demonstra por que a melhoria importa (decisão baseada em evidência).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SLIDES_API1357258546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SLIDES_API1357258546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Houve iteração de projeto: começamos com uma abordagem mais simples e evoluímos para uma melhor, justificando cada decisão. Esse é o tipo de reflexão que a rubrica valoriza.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SLIDES_API1357258546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SLIDES_API1357258546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Convide perguntas; esteja pronto para abrir o main.py (6 seções comentadas) ou rodar uma demonstração ao vivo. Glossário de apoio: indivíduo/cromossomo = solução (permutação); gene = perm[i]; população = conjunto de uma geração; aptidão = custo (a minimizar); memético = AG + busca local; ótimo local/global = melhor numa vizinhança / em todo o espaço.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63238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T2 – Algoritmos de Busca</a:t>
            </a:r>
            <a:endParaRPr b="1"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CFD8DC"/>
                </a:solidFill>
                <a:latin typeface="Open Sans"/>
                <a:ea typeface="Open Sans"/>
                <a:cs typeface="Open Sans"/>
                <a:sym typeface="Open Sans"/>
              </a:rPr>
              <a:t>Alocação de alunos em quartos duplos heterogêneos por Algoritmo Genético</a:t>
            </a:r>
            <a:endParaRPr sz="1500">
              <a:solidFill>
                <a:srgbClr val="CFD8D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CFD8DC"/>
                </a:solidFill>
                <a:latin typeface="Open Sans"/>
                <a:ea typeface="Open Sans"/>
                <a:cs typeface="Open Sans"/>
                <a:sym typeface="Open Sans"/>
              </a:rPr>
              <a:t>Inteligência Artificial — Profa. Silvia Moraes — PUCRS</a:t>
            </a:r>
            <a:endParaRPr sz="1500">
              <a:solidFill>
                <a:srgbClr val="CFD8DC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rgbClr val="CFD8DC"/>
                </a:solidFill>
                <a:latin typeface="Open Sans"/>
                <a:ea typeface="Open Sans"/>
                <a:cs typeface="Open Sans"/>
                <a:sym typeface="Open Sans"/>
              </a:rPr>
              <a:t>Integrantes: Vicente Piltcher, Michele Ughini e Ghabriel Girard</a:t>
            </a:r>
            <a:endParaRPr sz="1500">
              <a:solidFill>
                <a:srgbClr val="CFD8DC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O problema e sua natureza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Alunos de duas escolas (A e B), mesmo tamanho N, em quartos duplos heterogêneos (exatamente um de cada escola por quarto).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Cada aluno respondeu um questionário → lista ordenada de preferência sobre a outra escola (do mais ao menos preferido).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Objetivo: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emparelhamento que maximiza a satisfação mútua;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restrições: todos alojados, nenhum quarto com dois da mesma escola.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Natureza: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problema de atribuição (assignment), parente do Casamento Estável (Gale–Shapley);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espaço de busca = N! (N=10 → 3.628.800) → exaustivo inviável.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2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Por que Algoritmo Genético Memético+ visão geral (pipeline)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31687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AG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meta-heurística populacional inspirada na evolução (evolui um conjunto de soluções, combinando-as por gerações). Escolha permitida pelo enunciado (AG ou SA).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Memético = AG + busca local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combina exploração (AG) com intensificação (busca local) → convergência rápida e confiável ao ótimo.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Pipeline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1° ler arquivo → 2° população inicial → 3° ciclo por geração (avaliar → elitismo → seleção → cruzamento → mutação → busca local → ordenar) → 4° parada → 5° saída.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3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Entrada e Codificação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Formato da entrada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linha 1 = N; próximas N linhas = Escola A; próximas N = Escola B. Cada linha: id + lista ordenada de ids do outro lado (mais→menos preferido). A leitura valida que cada lista é uma permutação de 1..N (e trata linhas em branco).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Codificação (cromossomo)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indivíduo = permutação perm, onde perm[i] = aluno B alocado ao aluno A i. Toda permutação de 0..N-1 é automaticamente um emparelhamento perfeito e heterogêneo (cada B usado exatamente uma vez).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Exemplo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4 2 1 3 → A1–B4, A2–B2, A3–B1, A4–B3.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4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Função heurística / aptidão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9" name="Google Shape;8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Custo de insatisfação a MINIMIZAR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custo(perm) = Σ_i [rankA(i, perm[i]) + 1] + [rankB(perm[i], i) + 1]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rankA/rankB = posição do par na lista (0 = 1ª escolha; o +1 deixa em base 1).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Mínimo por dupla = 2 (1ª escolha mútua); ótimo teórico global = 2·N.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Exemplo (caso1):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A1–B4 = 3+1 = 4; A2–B2 = 1+2 = 3; A3–B1 = 2+1 = 3; A4–B3 = 1+2 = 3 → solução 4 2 1 3 custa 13 (média 3,25/dupla).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Propriedades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simétrica (pondera A e B), independe de N (scale-free), monotônica (melhorar uma dupla nunca piora o total).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7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5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População, Seleção e Elitismo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População inicial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100 permutações aleatórias válidas (random.shuffle) — equilíbrio entre diversidade/exploração e custo computacional.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Seleção por torneio (k=2)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sorteia 2 indivíduos, vence o de menor custo. Define a pressão seletiva (k maior = mais elitista); não exige fitness normalizado.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Elitismo (2):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os 2 melhores passam intactos para a próxima geração → a melhor solução nunca piora ao longo das gerações.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8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8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6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Cruzamento: Order Crossover (OX)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Taxa de cruzamento = 0,85 (com prob. 0,15 os filhos são cópias dos pais).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OX (operador clássico para permutações)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1) o filho herda um segmento contíguo [a,b) de um pai;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2) completa as demais posições com os genes do outro pai, na ordem em que aparecem (ciclicamente, a partir de b), pulando os já herdados.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Preserva a permutação por construção → nunca repete ids, dispensa reparo.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Exemplo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p1=[1 2 3 4 5 6], p2=[4 1 5 2 6 3], segmento [2,5) → herda _ _ 3 4 5 _, completa com 1 2 6 → 2 6 3 4 5 1 (gera 2 filhos por casal).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9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9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7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Mutação e Busca local (memético)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Mutação por troca (swap), taxa 0,15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troca duas posições da permutação;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preserva a validade;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mantém diversidade e ajuda a escapar de ótimos locais.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Busca local 2-swap (first-improvement)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após cada filho, testa trocar pares de posições e aplica imediatamente qualquer troca que reduza o custo, até nenhum swap melhorar (ótimo local da vizinhança 2-swap).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Delta O(1) (não recalcula o fitness inteiro):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delta = (custo[a][jb] + custo[b][ja]) − (custo[a][ja] + custo[b][jb]).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É o que leva o AG ao ótimo de forma confiável (componente memético).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20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0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8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Ciclo do AG e critérios de parada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Ciclo (por geração)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avaliar população → elitismo → seleção (torneio) → cruzamento (OX) → mutação (swap) → busca local → ordenar por custo → repetir.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Critérios de parada (o que ocorrer primeiro):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1) ótimo teórico atingido (custo ≤ 2·N);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2) máximo de gerações = 500; 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3) estagnação = 50 gerações sem melhora do melhor custo.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O melhor global é guardado a cada geração (nunca se perde).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21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21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21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9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2"/>
          <p:cNvSpPr txBox="1"/>
          <p:nvPr>
            <p:ph type="title"/>
          </p:nvPr>
        </p:nvSpPr>
        <p:spPr>
          <a:xfrm>
            <a:off x="311700" y="262813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6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Parâmetros utilizados</a:t>
            </a:r>
            <a:endParaRPr b="1" sz="26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4" name="Google Shape;134;p22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2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6" name="Google Shape;136;p22"/>
          <p:cNvGraphicFramePr/>
          <p:nvPr/>
        </p:nvGraphicFramePr>
        <p:xfrm>
          <a:off x="508013" y="835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{BC92C7F9-1EA7-4733-BEFB-94C64F1EB670}</a:tableStyleId>
              </a:tblPr>
              <a:tblGrid>
                <a:gridCol w="2709325"/>
                <a:gridCol w="2709325"/>
                <a:gridCol w="2709325"/>
              </a:tblGrid>
              <a:tr h="4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Parâmetro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Valor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26323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pt-BR" sz="1100">
                          <a:solidFill>
                            <a:srgbClr val="FFFFFF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Efeito de aumentar / justificativa</a:t>
                      </a:r>
                      <a:endParaRPr b="1" sz="1100">
                        <a:solidFill>
                          <a:srgbClr val="FFFFFF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263238"/>
                    </a:solidFill>
                  </a:tcPr>
                </a:tc>
              </a:tr>
              <a:tr h="4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População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100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mais diversidade/exploração; mais custo por geração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Gerações (máx.)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500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mais refino; risco de desperdício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</a:tr>
              <a:tr h="4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Crossover (OX)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0,85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mais recombinação (exploração)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Mutação (swap)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0,15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mais diversidade; alta demais aleatório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</a:tr>
              <a:tr h="4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Torneio (k)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mais pressão seletiva (converge mais rápido)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Elitismo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2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mais estabilidade; alto demais reduz diversidade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</a:tr>
              <a:tr h="4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Estagnação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50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parar após convergir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402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Busca local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ligada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100">
                          <a:solidFill>
                            <a:srgbClr val="2B2B2B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intensificação (memético)</a:t>
                      </a:r>
                      <a:endParaRPr sz="1100">
                        <a:solidFill>
                          <a:srgbClr val="2B2B2B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>
                    <a:solidFill>
                      <a:srgbClr val="ECEFF1"/>
                    </a:solidFill>
                  </a:tcPr>
                </a:tc>
              </a:tr>
            </a:tbl>
          </a:graphicData>
        </a:graphic>
      </p:graphicFrame>
      <p:sp>
        <p:nvSpPr>
          <p:cNvPr id="137" name="Google Shape;137;p22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10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Modos de execução e saída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Passo a passo (--modo passo)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pausa a cada geração (Enter) e mostra o melhor indivíduo codificado e decodificado.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Final (--modo final)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roda tudo e exibe a solução ao final.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Ambos imprimem a evolução da heurística (melhor/média/pior por geração).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Saída decodificada (exemplo)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Quarto 1: A1 &lt;-&gt; B4 (A escolheu B como 3a opcao; B escolheu A como 1a opcao; custo=4)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Persistência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console + arquivo &lt;arquivo&gt;_output.txt (solução + log completo).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4" name="Google Shape;144;p23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3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11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Resultados e impacto do memético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2" name="Google Shape;152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N=4 (caso1.txt)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custo 13 = ótimo (confirmado por força bruta nas 24 permutações) → solução 4 2 1 3.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N=10 (caso2.txt)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solução válida, custo 30 (média 3,0/dupla); ótimo teórico 20 não atingível (preferências conflitantes) — 30 é a melhor solução real.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AG puro x memético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sem busca local, o AG "puro" estaciona em custos piores nas mesmas gerações → a busca local é decisiva.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12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Problemas e considerações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1" name="Google Shape;16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Cruzamento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corte simples quebrava permutações (exigia reparo + penalidade) → migramos para Order Crossover, que preserva validade e herda mais estrutura.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Penalidade removida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com OX + swap + busca local, soluções são sempre válidas.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Calibração de taxas</a:t>
            </a: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: mutação alta demais vira busca aleatória; torneio grande demais converge cedo (ótimo local).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Heurística simétrica foi decisiva para soluções justas entre as duas escolas.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Estagnação evita desperdício após a convergência; matriz de custo garante eficiência (avaliação O(N), delta O(1)).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25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5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13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400">
                <a:solidFill>
                  <a:srgbClr val="263238"/>
                </a:solidFill>
                <a:latin typeface="Poppins"/>
                <a:ea typeface="Poppins"/>
                <a:cs typeface="Poppins"/>
                <a:sym typeface="Poppins"/>
              </a:rPr>
              <a:t>Encerramento</a:t>
            </a:r>
            <a:endParaRPr b="1" sz="2400">
              <a:solidFill>
                <a:srgbClr val="26323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0" name="Google Shape;17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300">
                <a:solidFill>
                  <a:srgbClr val="2B2B2B"/>
                </a:solidFill>
                <a:latin typeface="Open Sans"/>
                <a:ea typeface="Open Sans"/>
                <a:cs typeface="Open Sans"/>
                <a:sym typeface="Open Sans"/>
              </a:rPr>
              <a:t>Obrigado!</a:t>
            </a:r>
            <a:endParaRPr sz="1300">
              <a:solidFill>
                <a:srgbClr val="2B2B2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1" name="Google Shape;171;p26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6"/>
          <p:cNvSpPr/>
          <p:nvPr/>
        </p:nvSpPr>
        <p:spPr>
          <a:xfrm>
            <a:off x="0" y="127000"/>
            <a:ext cx="9144000" cy="3810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6"/>
          <p:cNvSpPr/>
          <p:nvPr/>
        </p:nvSpPr>
        <p:spPr>
          <a:xfrm>
            <a:off x="8331200" y="4762500"/>
            <a:ext cx="558900" cy="254100"/>
          </a:xfrm>
          <a:prstGeom prst="roundRect">
            <a:avLst>
              <a:gd fmla="val 16667" name="adj"/>
            </a:avLst>
          </a:prstGeom>
          <a:solidFill>
            <a:srgbClr val="ECEF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07D8B"/>
                </a:solidFill>
                <a:latin typeface="Open Sans"/>
                <a:ea typeface="Open Sans"/>
                <a:cs typeface="Open Sans"/>
                <a:sym typeface="Open Sans"/>
              </a:rPr>
              <a:t>15 / 15</a:t>
            </a:r>
            <a:endParaRPr sz="900">
              <a:solidFill>
                <a:srgbClr val="607D8B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